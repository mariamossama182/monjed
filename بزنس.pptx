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theme/theme6.xml" ContentType="application/vnd.openxmlformats-officedocument.theme+xml"/>
  <Override PartName="/ppt/slideLayouts/slideLayout7.xml" ContentType="application/vnd.openxmlformats-officedocument.presentationml.slideLayout+xml"/>
  <Override PartName="/ppt/theme/theme7.xml" ContentType="application/vnd.openxmlformats-officedocument.theme+xml"/>
  <Override PartName="/ppt/slideLayouts/slideLayout8.xml" ContentType="application/vnd.openxmlformats-officedocument.presentationml.slideLayout+xml"/>
  <Override PartName="/ppt/theme/theme8.xml" ContentType="application/vnd.openxmlformats-officedocument.theme+xml"/>
  <Override PartName="/ppt/slideLayouts/slideLayout9.xml" ContentType="application/vnd.openxmlformats-officedocument.presentationml.slideLayout+xml"/>
  <Override PartName="/ppt/theme/theme9.xml" ContentType="application/vnd.openxmlformats-officedocument.theme+xml"/>
  <Override PartName="/ppt/slideLayouts/slideLayout10.xml" ContentType="application/vnd.openxmlformats-officedocument.presentationml.slideLayout+xml"/>
  <Override PartName="/ppt/theme/theme10.xml" ContentType="application/vnd.openxmlformats-officedocument.theme+xml"/>
  <Override PartName="/ppt/slideLayouts/slideLayout11.xml" ContentType="application/vnd.openxmlformats-officedocument.presentationml.slideLayout+xml"/>
  <Override PartName="/ppt/theme/theme1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  <p:sldMasterId id="2147483652" r:id="rId3"/>
    <p:sldMasterId id="2147483654" r:id="rId4"/>
    <p:sldMasterId id="2147483656" r:id="rId5"/>
    <p:sldMasterId id="2147483658" r:id="rId6"/>
    <p:sldMasterId id="2147483660" r:id="rId7"/>
    <p:sldMasterId id="2147483662" r:id="rId8"/>
    <p:sldMasterId id="2147483664" r:id="rId9"/>
    <p:sldMasterId id="2147483666" r:id="rId10"/>
    <p:sldMasterId id="2147483668" r:id="rId11"/>
  </p:sldMasterIdLst>
  <p:sldIdLst>
    <p:sldId id="256" r:id="rId12"/>
  </p:sldIdLst>
  <p:sldSz cx="12192000" cy="6858000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5" Type="http://schemas.openxmlformats.org/officeDocument/2006/relationships/slideMaster" Target="slideMasters/slideMaster5.xml"/><Relationship Id="rId15" Type="http://schemas.openxmlformats.org/officeDocument/2006/relationships/theme" Target="theme/theme1.xml"/><Relationship Id="rId10" Type="http://schemas.openxmlformats.org/officeDocument/2006/relationships/slideMaster" Target="slideMasters/slideMaster10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B5B0678A-DAAD-48D0-AAF0-363C85ED3819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ED56EB4C-2BF4-4B6B-AC25-735CD125D631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34802E58-D80D-43E4-A633-AE24A40B2E0A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1C150B7-A47A-4074-88E9-1380CD772FF2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lstStyle/>
          <a:p>
            <a:fld id="{569901F7-FCAD-478B-8910-52EC47181D51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lstStyle/>
          <a:p>
            <a:fld id="{E7B42A97-A3FF-48A6-9F9E-CDDE1F1D9C42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lstStyle/>
          <a:p>
            <a:fld id="{1083F1E0-D5C7-4890-B239-445C5A94BBA0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lstStyle/>
          <a:p>
            <a:fld id="{884FF432-4B52-490D-8B2C-932385A85E98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7E8BD901-D0FB-48E6-8B33-0D48E84F3508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lstStyle/>
          <a:p>
            <a:fld id="{76D68485-2B3D-4199-B44E-020CB5899ABE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lstStyle/>
          <a:p>
            <a:fld id="{65337EF0-9489-41A2-8D9E-8E9EC54526B6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8.xml"/></Relationships>
</file>

<file path=ppt/slideMasters/_rels/slideMaster9.xml.rels><?xml version="1.0" encoding="UTF-8" standalone="yes"?>
<Relationships xmlns="http://schemas.openxmlformats.org/package/2006/relationships"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9.xml"/></Relationships>
</file>

<file path=ppt/slideMasters/_rels/slideMaster10.xml.rels><?xml version="1.0" encoding="UTF-8" standalone="yes"?>
<Relationships xmlns="http://schemas.openxmlformats.org/package/2006/relationships"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0.xml"/></Relationships>
</file>

<file path=ppt/slideMasters/_rels/slideMaster1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Calibri"/>
              </a:rPr>
              <a:t>Click to edit Master title style</a:t>
            </a:r>
          </a:p>
        </p:txBody>
      </p:sp>
      <p:sp>
        <p:nvSpPr>
          <p:cNvPr id="5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BA6D1AB-11C3-4F18-A0A0-188F62F3A435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Calibri"/>
              </a:rPr>
              <a:t>Click to edit Master title style</a:t>
            </a: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Fifth level</a:t>
            </a: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A3101A4-9902-4574-9DF7-6190B9707FC8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Calibri"/>
              </a:rPr>
              <a:t>Click to edit Master title style</a:t>
            </a: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Fifth level</a:t>
            </a: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D67DC05-ACEC-40BE-9A99-7C0FC0665D44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Calibri"/>
              </a:rPr>
              <a:t>Click to edit Master title style</a:t>
            </a: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Fifth level</a:t>
            </a: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0B8A1EB-D5C8-4F8A-B1AD-5ABD180B8E83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sz="4000" b="1" strike="noStrike" cap="all" spc="-1">
                <a:solidFill>
                  <a:schemeClr val="dk1"/>
                </a:solidFill>
                <a:latin typeface="Calibri"/>
              </a:rPr>
              <a:t>Click to edit Master title style</a:t>
            </a:r>
            <a:endParaRPr lang="en-US" sz="40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lang="en-US" sz="20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AF9590D-E8D4-4A64-8CA9-B1D481AB4D4A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Calibri"/>
              </a:rPr>
              <a:t>Click to edit Master title style</a:t>
            </a: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Fifth level</a:t>
            </a: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Fifth level</a:t>
            </a:r>
          </a:p>
        </p:txBody>
      </p:sp>
      <p:sp>
        <p:nvSpPr>
          <p:cNvPr id="31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33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901E569-3C44-4560-AA1C-E804964B4380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Calibri"/>
              </a:rPr>
              <a:t>Click to edit Master title style</a:t>
            </a: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strike="noStrike" spc="-1">
                <a:solidFill>
                  <a:schemeClr val="dk1"/>
                </a:solidFill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strike="noStrike" spc="-1">
                <a:solidFill>
                  <a:schemeClr val="dk1"/>
                </a:solidFill>
                <a:latin typeface="Calibri"/>
              </a:rPr>
              <a:t>Fifth level</a:t>
            </a: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strike="noStrike" spc="-1">
                <a:solidFill>
                  <a:schemeClr val="dk1"/>
                </a:solidFill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strike="noStrike" spc="-1">
                <a:solidFill>
                  <a:schemeClr val="dk1"/>
                </a:solidFill>
                <a:latin typeface="Calibri"/>
              </a:rPr>
              <a:t>Fifth level</a:t>
            </a:r>
          </a:p>
        </p:txBody>
      </p:sp>
      <p:sp>
        <p:nvSpPr>
          <p:cNvPr id="42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44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CDC2847-67CF-43FA-970F-B114C845621E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Calibri"/>
              </a:rPr>
              <a:t>Click to edit Master title style</a:t>
            </a:r>
          </a:p>
        </p:txBody>
      </p:sp>
      <p:sp>
        <p:nvSpPr>
          <p:cNvPr id="46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48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92BE1D0-3602-41EE-9681-6A75CC992A93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52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5164559-8768-4B38-9CEB-298ACA630644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Click to edit the title text format</a:t>
            </a: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sz="2000" b="1" strike="noStrike" spc="-1">
                <a:solidFill>
                  <a:schemeClr val="dk1"/>
                </a:solidFill>
                <a:latin typeface="Calibri"/>
              </a:rPr>
              <a:t>Click to edit Master title style</a:t>
            </a:r>
            <a:endParaRPr lang="en-US" sz="20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Fifth level</a:t>
            </a: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</a:p>
        </p:txBody>
      </p:sp>
      <p:sp>
        <p:nvSpPr>
          <p:cNvPr id="58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60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585840E-EB63-4B2F-A410-6326C2EE1290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sz="2000" b="1" strike="noStrike" spc="-1">
                <a:solidFill>
                  <a:schemeClr val="dk1"/>
                </a:solidFill>
                <a:latin typeface="Calibri"/>
              </a:rPr>
              <a:t>Click to edit Master title style</a:t>
            </a:r>
            <a:endParaRPr lang="en-US" sz="20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Seventh Outline Level</a:t>
            </a: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</a:p>
        </p:txBody>
      </p:sp>
      <p:sp>
        <p:nvSpPr>
          <p:cNvPr id="64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66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18A9632-76DD-4AD1-92CA-FB00A5391D2D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Picture 2" descr="ayab_top_logos.png"/>
          <p:cNvPicPr/>
          <p:nvPr/>
        </p:nvPicPr>
        <p:blipFill>
          <a:blip r:embed="rId2"/>
          <a:stretch/>
        </p:blipFill>
        <p:spPr>
          <a:xfrm>
            <a:off x="2683800" y="-1"/>
            <a:ext cx="5595840" cy="765215"/>
          </a:xfrm>
          <a:prstGeom prst="rect">
            <a:avLst/>
          </a:prstGeom>
          <a:ln w="0">
            <a:noFill/>
          </a:ln>
        </p:spPr>
      </p:pic>
      <p:sp>
        <p:nvSpPr>
          <p:cNvPr id="68" name="Rectangle 3"/>
          <p:cNvSpPr/>
          <p:nvPr/>
        </p:nvSpPr>
        <p:spPr>
          <a:xfrm>
            <a:off x="0" y="749880"/>
            <a:ext cx="12191400" cy="566640"/>
          </a:xfrm>
          <a:prstGeom prst="rect">
            <a:avLst/>
          </a:prstGeom>
          <a:solidFill>
            <a:srgbClr val="0E3C56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9" name="TextBox 4"/>
          <p:cNvSpPr/>
          <p:nvPr/>
        </p:nvSpPr>
        <p:spPr>
          <a:xfrm>
            <a:off x="1297440" y="831960"/>
            <a:ext cx="3402720" cy="424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200" b="1" strike="noStrike" spc="-1">
                <a:solidFill>
                  <a:srgbClr val="FFFFFF"/>
                </a:solidFill>
                <a:latin typeface="Aptos Display"/>
              </a:rPr>
              <a:t>Business Model Canvas</a:t>
            </a:r>
            <a:endParaRPr lang="en-US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TextBox 5"/>
          <p:cNvSpPr/>
          <p:nvPr/>
        </p:nvSpPr>
        <p:spPr>
          <a:xfrm>
            <a:off x="8449020" y="383576"/>
            <a:ext cx="3287160" cy="242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000" b="1" strike="noStrike" spc="-1" dirty="0">
                <a:solidFill>
                  <a:srgbClr val="F5A623"/>
                </a:solidFill>
                <a:latin typeface="Aptos"/>
              </a:rPr>
              <a:t>AI FOR ALL HACKATHON  ·  IDEATION WORKSHEET</a:t>
            </a:r>
            <a:endParaRPr lang="en-US" sz="1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TextBox 6"/>
          <p:cNvSpPr/>
          <p:nvPr/>
        </p:nvSpPr>
        <p:spPr>
          <a:xfrm>
            <a:off x="6869880" y="896040"/>
            <a:ext cx="944640" cy="204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750" b="0" strike="noStrike" spc="-1">
                <a:solidFill>
                  <a:srgbClr val="DCEBF0"/>
                </a:solidFill>
                <a:latin typeface="Calibri"/>
              </a:rPr>
              <a:t>TEAM / IDEA NAME</a:t>
            </a:r>
            <a:endParaRPr lang="en-US" sz="7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Rectangle 7"/>
          <p:cNvSpPr/>
          <p:nvPr/>
        </p:nvSpPr>
        <p:spPr>
          <a:xfrm>
            <a:off x="7132320" y="1042560"/>
            <a:ext cx="2377080" cy="13320"/>
          </a:xfrm>
          <a:prstGeom prst="rect">
            <a:avLst/>
          </a:prstGeom>
          <a:solidFill>
            <a:srgbClr val="B4CDD7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1320" rIns="90000" bIns="-3132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3" name="TextBox 8"/>
          <p:cNvSpPr/>
          <p:nvPr/>
        </p:nvSpPr>
        <p:spPr>
          <a:xfrm>
            <a:off x="10092600" y="896040"/>
            <a:ext cx="379080" cy="204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750" b="0" strike="noStrike" spc="-1">
                <a:solidFill>
                  <a:srgbClr val="DCEBF0"/>
                </a:solidFill>
                <a:latin typeface="Calibri"/>
              </a:rPr>
              <a:t>DATE</a:t>
            </a:r>
            <a:endParaRPr lang="en-US" sz="7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0" name="TextBox Name Value"/>
          <p:cNvSpPr/>
          <p:nvPr/>
        </p:nvSpPr>
        <p:spPr>
          <a:xfrm>
            <a:off x="7814520" y="780335"/>
            <a:ext cx="1600223" cy="27554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1" strike="noStrike" spc="-1" dirty="0" err="1">
                <a:solidFill>
                  <a:schemeClr val="bg1"/>
                </a:solidFill>
                <a:latin typeface="Arial"/>
              </a:rPr>
              <a:t>Monjed</a:t>
            </a:r>
            <a:r>
              <a:rPr lang="en-US" sz="1200" b="1" strike="noStrike" spc="-1" dirty="0">
                <a:solidFill>
                  <a:schemeClr val="bg1"/>
                </a:solidFill>
                <a:latin typeface="Arial"/>
              </a:rPr>
              <a:t> AI – Team 7</a:t>
            </a:r>
          </a:p>
        </p:txBody>
      </p:sp>
      <p:sp>
        <p:nvSpPr>
          <p:cNvPr id="301" name="TextBox Date Value"/>
          <p:cNvSpPr/>
          <p:nvPr/>
        </p:nvSpPr>
        <p:spPr>
          <a:xfrm>
            <a:off x="10433285" y="860846"/>
            <a:ext cx="1117463" cy="24476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000" b="1" strike="noStrike" spc="-1" dirty="0">
                <a:solidFill>
                  <a:schemeClr val="bg1"/>
                </a:solidFill>
                <a:latin typeface="Calibri"/>
              </a:rPr>
              <a:t>14th August 2026</a:t>
            </a:r>
            <a:endParaRPr lang="en-US" sz="1000" b="0" strike="noStrike" spc="-1" dirty="0">
              <a:solidFill>
                <a:schemeClr val="bg1"/>
              </a:solidFill>
              <a:latin typeface="Arial"/>
            </a:endParaRPr>
          </a:p>
        </p:txBody>
      </p:sp>
      <p:sp>
        <p:nvSpPr>
          <p:cNvPr id="74" name="Rectangle 9"/>
          <p:cNvSpPr/>
          <p:nvPr/>
        </p:nvSpPr>
        <p:spPr>
          <a:xfrm>
            <a:off x="10149840" y="1042560"/>
            <a:ext cx="1234080" cy="13320"/>
          </a:xfrm>
          <a:prstGeom prst="rect">
            <a:avLst/>
          </a:prstGeom>
          <a:solidFill>
            <a:srgbClr val="B4CDD7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1320" rIns="90000" bIns="-3132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5" name="Rounded Rectangle 10"/>
          <p:cNvSpPr/>
          <p:nvPr/>
        </p:nvSpPr>
        <p:spPr>
          <a:xfrm>
            <a:off x="228600" y="1426320"/>
            <a:ext cx="2102760" cy="4370400"/>
          </a:xfrm>
          <a:prstGeom prst="roundRect">
            <a:avLst>
              <a:gd name="adj" fmla="val 16667"/>
            </a:avLst>
          </a:prstGeom>
          <a:solidFill>
            <a:srgbClr val="EBF3F7"/>
          </a:solidFill>
          <a:ln w="8890">
            <a:solidFill>
              <a:srgbClr val="C3D3D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6" name="Oval 11"/>
          <p:cNvSpPr/>
          <p:nvPr/>
        </p:nvSpPr>
        <p:spPr>
          <a:xfrm>
            <a:off x="338400" y="1536120"/>
            <a:ext cx="209880" cy="209880"/>
          </a:xfrm>
          <a:prstGeom prst="ellipse">
            <a:avLst/>
          </a:prstGeom>
          <a:solidFill>
            <a:srgbClr val="0C3A54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7" name="TextBox 12"/>
          <p:cNvSpPr/>
          <p:nvPr/>
        </p:nvSpPr>
        <p:spPr>
          <a:xfrm>
            <a:off x="328320" y="1549800"/>
            <a:ext cx="230040" cy="21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800" b="1" strike="noStrike" spc="-1">
                <a:solidFill>
                  <a:srgbClr val="FFFFFF"/>
                </a:solidFill>
                <a:latin typeface="Calibri"/>
              </a:rPr>
              <a:t>1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TextBox 13"/>
          <p:cNvSpPr/>
          <p:nvPr/>
        </p:nvSpPr>
        <p:spPr>
          <a:xfrm>
            <a:off x="905760" y="1517760"/>
            <a:ext cx="1031400" cy="257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00" b="1" strike="noStrike" spc="-1">
                <a:solidFill>
                  <a:srgbClr val="0C3A54"/>
                </a:solidFill>
                <a:latin typeface="Calibri"/>
              </a:rPr>
              <a:t>KEY PARTNERS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TextBox 14"/>
          <p:cNvSpPr/>
          <p:nvPr/>
        </p:nvSpPr>
        <p:spPr>
          <a:xfrm>
            <a:off x="452508" y="2221704"/>
            <a:ext cx="1689863" cy="332253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="vert270" lIns="90000" tIns="45000" rIns="90000" bIns="4500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400" b="0" i="1" strike="noStrike" spc="-1" dirty="0">
                <a:solidFill>
                  <a:srgbClr val="546C7A"/>
                </a:solidFill>
                <a:latin typeface="Calibri"/>
              </a:rPr>
              <a:t>NASA </a:t>
            </a:r>
            <a:r>
              <a:rPr lang="en-US" sz="1400" b="0" i="1" strike="noStrike" spc="-1" dirty="0" err="1">
                <a:solidFill>
                  <a:srgbClr val="546C7A"/>
                </a:solidFill>
                <a:latin typeface="Calibri"/>
              </a:rPr>
              <a:t>Earthdata</a:t>
            </a:r>
            <a:r>
              <a:rPr lang="en-US" sz="1400" b="0" i="1" strike="noStrike" spc="-1" dirty="0">
                <a:solidFill>
                  <a:srgbClr val="546C7A"/>
                </a:solidFill>
                <a:latin typeface="Calibri"/>
              </a:rPr>
              <a:t> (GPM IMERG, SMAP, SRTM) and Copernicus </a:t>
            </a:r>
            <a:r>
              <a:rPr lang="en-US" sz="1400" b="0" i="1" strike="noStrike" spc="-1" dirty="0" err="1">
                <a:solidFill>
                  <a:srgbClr val="546C7A"/>
                </a:solidFill>
                <a:latin typeface="Calibri"/>
              </a:rPr>
              <a:t>GloFAS</a:t>
            </a:r>
            <a:r>
              <a:rPr lang="en-US" sz="1400" b="0" i="1" strike="noStrike" spc="-1" dirty="0">
                <a:solidFill>
                  <a:srgbClr val="546C7A"/>
                </a:solidFill>
                <a:latin typeface="Calibri"/>
              </a:rPr>
              <a:t>; USGS Earthquake Hazards Program; Africa's Talking SMS gateway and WhatsApp Business API; local volunteer networks, NGOs and community organizations; future local emergency-management authorities.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Rectangle 15"/>
          <p:cNvSpPr/>
          <p:nvPr/>
        </p:nvSpPr>
        <p:spPr>
          <a:xfrm>
            <a:off x="356760" y="2322720"/>
            <a:ext cx="1846800" cy="6840"/>
          </a:xfrm>
          <a:prstGeom prst="rect">
            <a:avLst/>
          </a:prstGeom>
          <a:solidFill>
            <a:srgbClr val="C3D3D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7800" rIns="90000" bIns="-378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1" name="Rectangle 16"/>
          <p:cNvSpPr/>
          <p:nvPr/>
        </p:nvSpPr>
        <p:spPr>
          <a:xfrm>
            <a:off x="356760" y="2532960"/>
            <a:ext cx="1846800" cy="6840"/>
          </a:xfrm>
          <a:prstGeom prst="rect">
            <a:avLst/>
          </a:prstGeom>
          <a:solidFill>
            <a:srgbClr val="C3D3D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7800" rIns="90000" bIns="-378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2" name="Rectangle 17"/>
          <p:cNvSpPr/>
          <p:nvPr/>
        </p:nvSpPr>
        <p:spPr>
          <a:xfrm>
            <a:off x="356760" y="2743200"/>
            <a:ext cx="1846800" cy="6840"/>
          </a:xfrm>
          <a:prstGeom prst="rect">
            <a:avLst/>
          </a:prstGeom>
          <a:solidFill>
            <a:srgbClr val="C3D3D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7800" rIns="90000" bIns="-378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3" name="Rectangle 18"/>
          <p:cNvSpPr/>
          <p:nvPr/>
        </p:nvSpPr>
        <p:spPr>
          <a:xfrm>
            <a:off x="356760" y="2953440"/>
            <a:ext cx="1846800" cy="6840"/>
          </a:xfrm>
          <a:prstGeom prst="rect">
            <a:avLst/>
          </a:prstGeom>
          <a:solidFill>
            <a:srgbClr val="C3D3D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7800" rIns="90000" bIns="-378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4" name="Rectangle 19"/>
          <p:cNvSpPr/>
          <p:nvPr/>
        </p:nvSpPr>
        <p:spPr>
          <a:xfrm>
            <a:off x="356760" y="3163680"/>
            <a:ext cx="1846800" cy="6840"/>
          </a:xfrm>
          <a:prstGeom prst="rect">
            <a:avLst/>
          </a:prstGeom>
          <a:solidFill>
            <a:srgbClr val="C3D3D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7800" rIns="90000" bIns="-378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5" name="Rectangle 20"/>
          <p:cNvSpPr/>
          <p:nvPr/>
        </p:nvSpPr>
        <p:spPr>
          <a:xfrm>
            <a:off x="356760" y="3374280"/>
            <a:ext cx="1846800" cy="6840"/>
          </a:xfrm>
          <a:prstGeom prst="rect">
            <a:avLst/>
          </a:prstGeom>
          <a:solidFill>
            <a:srgbClr val="C3D3D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7800" rIns="90000" bIns="-378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6" name="Rectangle 21"/>
          <p:cNvSpPr/>
          <p:nvPr/>
        </p:nvSpPr>
        <p:spPr>
          <a:xfrm>
            <a:off x="356760" y="3584520"/>
            <a:ext cx="1846800" cy="6840"/>
          </a:xfrm>
          <a:prstGeom prst="rect">
            <a:avLst/>
          </a:prstGeom>
          <a:solidFill>
            <a:srgbClr val="C3D3D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7800" rIns="90000" bIns="-378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7" name="Rectangle 22"/>
          <p:cNvSpPr/>
          <p:nvPr/>
        </p:nvSpPr>
        <p:spPr>
          <a:xfrm>
            <a:off x="356760" y="3794760"/>
            <a:ext cx="1846800" cy="6840"/>
          </a:xfrm>
          <a:prstGeom prst="rect">
            <a:avLst/>
          </a:prstGeom>
          <a:solidFill>
            <a:srgbClr val="C3D3D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7800" rIns="90000" bIns="-378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8" name="Rectangle 23"/>
          <p:cNvSpPr/>
          <p:nvPr/>
        </p:nvSpPr>
        <p:spPr>
          <a:xfrm>
            <a:off x="356760" y="4005000"/>
            <a:ext cx="1846800" cy="6840"/>
          </a:xfrm>
          <a:prstGeom prst="rect">
            <a:avLst/>
          </a:prstGeom>
          <a:solidFill>
            <a:srgbClr val="C3D3D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7800" rIns="90000" bIns="-378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9" name="Rectangle 24"/>
          <p:cNvSpPr/>
          <p:nvPr/>
        </p:nvSpPr>
        <p:spPr>
          <a:xfrm>
            <a:off x="356760" y="4215240"/>
            <a:ext cx="1846800" cy="6840"/>
          </a:xfrm>
          <a:prstGeom prst="rect">
            <a:avLst/>
          </a:prstGeom>
          <a:solidFill>
            <a:srgbClr val="C3D3D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7800" rIns="90000" bIns="-378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0" name="Rectangle 25"/>
          <p:cNvSpPr/>
          <p:nvPr/>
        </p:nvSpPr>
        <p:spPr>
          <a:xfrm>
            <a:off x="356760" y="4425840"/>
            <a:ext cx="1846800" cy="6840"/>
          </a:xfrm>
          <a:prstGeom prst="rect">
            <a:avLst/>
          </a:prstGeom>
          <a:solidFill>
            <a:srgbClr val="C3D3D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7800" rIns="90000" bIns="-378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1" name="Rectangle 26"/>
          <p:cNvSpPr/>
          <p:nvPr/>
        </p:nvSpPr>
        <p:spPr>
          <a:xfrm>
            <a:off x="356760" y="4636080"/>
            <a:ext cx="1846800" cy="6840"/>
          </a:xfrm>
          <a:prstGeom prst="rect">
            <a:avLst/>
          </a:prstGeom>
          <a:solidFill>
            <a:srgbClr val="C3D3D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7800" rIns="90000" bIns="-378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2" name="Rectangle 27"/>
          <p:cNvSpPr/>
          <p:nvPr/>
        </p:nvSpPr>
        <p:spPr>
          <a:xfrm>
            <a:off x="356760" y="4846320"/>
            <a:ext cx="1846800" cy="6840"/>
          </a:xfrm>
          <a:prstGeom prst="rect">
            <a:avLst/>
          </a:prstGeom>
          <a:solidFill>
            <a:srgbClr val="C3D3D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7800" rIns="90000" bIns="-378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3" name="Rectangle 28"/>
          <p:cNvSpPr/>
          <p:nvPr/>
        </p:nvSpPr>
        <p:spPr>
          <a:xfrm>
            <a:off x="356760" y="5056560"/>
            <a:ext cx="1846800" cy="6840"/>
          </a:xfrm>
          <a:prstGeom prst="rect">
            <a:avLst/>
          </a:prstGeom>
          <a:solidFill>
            <a:srgbClr val="C3D3D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7800" rIns="90000" bIns="-378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4" name="Rectangle 29"/>
          <p:cNvSpPr/>
          <p:nvPr/>
        </p:nvSpPr>
        <p:spPr>
          <a:xfrm>
            <a:off x="356760" y="5266800"/>
            <a:ext cx="1846800" cy="6840"/>
          </a:xfrm>
          <a:prstGeom prst="rect">
            <a:avLst/>
          </a:prstGeom>
          <a:solidFill>
            <a:srgbClr val="C3D3D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7800" rIns="90000" bIns="-378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5" name="Rectangle 30"/>
          <p:cNvSpPr/>
          <p:nvPr/>
        </p:nvSpPr>
        <p:spPr>
          <a:xfrm>
            <a:off x="356760" y="5477400"/>
            <a:ext cx="1846800" cy="6840"/>
          </a:xfrm>
          <a:prstGeom prst="rect">
            <a:avLst/>
          </a:prstGeom>
          <a:solidFill>
            <a:srgbClr val="C3D3D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7800" rIns="90000" bIns="-378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6" name="Rounded Rectangle 31"/>
          <p:cNvSpPr/>
          <p:nvPr/>
        </p:nvSpPr>
        <p:spPr>
          <a:xfrm>
            <a:off x="2468880" y="1426320"/>
            <a:ext cx="2102760" cy="1965600"/>
          </a:xfrm>
          <a:prstGeom prst="roundRect">
            <a:avLst>
              <a:gd name="adj" fmla="val 16667"/>
            </a:avLst>
          </a:prstGeom>
          <a:solidFill>
            <a:srgbClr val="EBF3F7"/>
          </a:solidFill>
          <a:ln w="8890">
            <a:solidFill>
              <a:srgbClr val="C3D3D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7" name="Oval 32"/>
          <p:cNvSpPr/>
          <p:nvPr/>
        </p:nvSpPr>
        <p:spPr>
          <a:xfrm>
            <a:off x="2578680" y="1536120"/>
            <a:ext cx="209880" cy="209880"/>
          </a:xfrm>
          <a:prstGeom prst="ellipse">
            <a:avLst/>
          </a:prstGeom>
          <a:solidFill>
            <a:srgbClr val="0C3A54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8" name="TextBox 33"/>
          <p:cNvSpPr/>
          <p:nvPr/>
        </p:nvSpPr>
        <p:spPr>
          <a:xfrm>
            <a:off x="2568600" y="1549800"/>
            <a:ext cx="230040" cy="21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800" b="1" strike="noStrike" spc="-1">
                <a:solidFill>
                  <a:srgbClr val="FFFFFF"/>
                </a:solidFill>
                <a:latin typeface="Calibri"/>
              </a:rPr>
              <a:t>2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TextBox 34"/>
          <p:cNvSpPr/>
          <p:nvPr/>
        </p:nvSpPr>
        <p:spPr>
          <a:xfrm>
            <a:off x="3133800" y="1517760"/>
            <a:ext cx="1055880" cy="257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00" b="1" strike="noStrike" spc="-1">
                <a:solidFill>
                  <a:srgbClr val="0C3A54"/>
                </a:solidFill>
                <a:latin typeface="Calibri"/>
              </a:rPr>
              <a:t>KEY ACTIVITIES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TextBox 35"/>
          <p:cNvSpPr/>
          <p:nvPr/>
        </p:nvSpPr>
        <p:spPr>
          <a:xfrm>
            <a:off x="2597040" y="1792080"/>
            <a:ext cx="1846800" cy="147587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900" b="0" i="1" strike="noStrike" spc="-1" dirty="0">
                <a:solidFill>
                  <a:srgbClr val="546C7A"/>
                </a:solidFill>
                <a:latin typeface="Calibri"/>
              </a:rPr>
              <a:t>Build and maintain independent flood and earthquake risk engines; run the Action Feasibility Engine that rejects impossible actions and re-plans; deliver two-way alerts and collect community reports via Web/PWA, WhatsApp and SMS; match and coordinate volunteers; maintain the Offline Decision Capsule and sync.</a:t>
            </a:r>
            <a:endParaRPr lang="en-US" sz="9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Rectangle 36"/>
          <p:cNvSpPr/>
          <p:nvPr/>
        </p:nvSpPr>
        <p:spPr>
          <a:xfrm>
            <a:off x="2597040" y="2322720"/>
            <a:ext cx="1846800" cy="6840"/>
          </a:xfrm>
          <a:prstGeom prst="rect">
            <a:avLst/>
          </a:prstGeom>
          <a:solidFill>
            <a:srgbClr val="C3D3D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7800" rIns="90000" bIns="-378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2" name="Rectangle 37"/>
          <p:cNvSpPr/>
          <p:nvPr/>
        </p:nvSpPr>
        <p:spPr>
          <a:xfrm>
            <a:off x="2597040" y="2532960"/>
            <a:ext cx="1846800" cy="6840"/>
          </a:xfrm>
          <a:prstGeom prst="rect">
            <a:avLst/>
          </a:prstGeom>
          <a:solidFill>
            <a:srgbClr val="C3D3D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7800" rIns="90000" bIns="-378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3" name="Rectangle 38"/>
          <p:cNvSpPr/>
          <p:nvPr/>
        </p:nvSpPr>
        <p:spPr>
          <a:xfrm>
            <a:off x="2597040" y="2743200"/>
            <a:ext cx="1846800" cy="6840"/>
          </a:xfrm>
          <a:prstGeom prst="rect">
            <a:avLst/>
          </a:prstGeom>
          <a:solidFill>
            <a:srgbClr val="C3D3D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7800" rIns="90000" bIns="-378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4" name="Rectangle 39"/>
          <p:cNvSpPr/>
          <p:nvPr/>
        </p:nvSpPr>
        <p:spPr>
          <a:xfrm>
            <a:off x="2597040" y="2953440"/>
            <a:ext cx="1846800" cy="6840"/>
          </a:xfrm>
          <a:prstGeom prst="rect">
            <a:avLst/>
          </a:prstGeom>
          <a:solidFill>
            <a:srgbClr val="C3D3D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7800" rIns="90000" bIns="-378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5" name="Rectangle 40"/>
          <p:cNvSpPr/>
          <p:nvPr/>
        </p:nvSpPr>
        <p:spPr>
          <a:xfrm>
            <a:off x="2597040" y="3163680"/>
            <a:ext cx="1846800" cy="6840"/>
          </a:xfrm>
          <a:prstGeom prst="rect">
            <a:avLst/>
          </a:prstGeom>
          <a:solidFill>
            <a:srgbClr val="C3D3D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7800" rIns="90000" bIns="-378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6" name="Rounded Rectangle 41"/>
          <p:cNvSpPr/>
          <p:nvPr/>
        </p:nvSpPr>
        <p:spPr>
          <a:xfrm>
            <a:off x="2468880" y="3529440"/>
            <a:ext cx="2102760" cy="2267280"/>
          </a:xfrm>
          <a:prstGeom prst="roundRect">
            <a:avLst>
              <a:gd name="adj" fmla="val 16667"/>
            </a:avLst>
          </a:prstGeom>
          <a:solidFill>
            <a:srgbClr val="EBF3F7"/>
          </a:solidFill>
          <a:ln w="8890">
            <a:solidFill>
              <a:srgbClr val="C3D3D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7" name="Oval 42"/>
          <p:cNvSpPr/>
          <p:nvPr/>
        </p:nvSpPr>
        <p:spPr>
          <a:xfrm>
            <a:off x="2578680" y="3639240"/>
            <a:ext cx="209880" cy="209880"/>
          </a:xfrm>
          <a:prstGeom prst="ellipse">
            <a:avLst/>
          </a:prstGeom>
          <a:solidFill>
            <a:srgbClr val="0C3A54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8" name="TextBox 43"/>
          <p:cNvSpPr/>
          <p:nvPr/>
        </p:nvSpPr>
        <p:spPr>
          <a:xfrm>
            <a:off x="2568600" y="3652920"/>
            <a:ext cx="230040" cy="21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800" b="1" strike="noStrike" spc="-1">
                <a:solidFill>
                  <a:srgbClr val="FFFFFF"/>
                </a:solidFill>
                <a:latin typeface="Calibri"/>
              </a:rPr>
              <a:t>3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TextBox 44"/>
          <p:cNvSpPr/>
          <p:nvPr/>
        </p:nvSpPr>
        <p:spPr>
          <a:xfrm>
            <a:off x="3105000" y="3620880"/>
            <a:ext cx="1113840" cy="257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00" b="1" strike="noStrike" spc="-1">
                <a:solidFill>
                  <a:srgbClr val="0C3A54"/>
                </a:solidFill>
                <a:latin typeface="Calibri"/>
              </a:rPr>
              <a:t>KEY RESOURCES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TextBox 45"/>
          <p:cNvSpPr/>
          <p:nvPr/>
        </p:nvSpPr>
        <p:spPr>
          <a:xfrm>
            <a:off x="2597040" y="3895200"/>
            <a:ext cx="1846800" cy="186828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050" b="0" i="1" strike="noStrike" spc="-1" dirty="0">
                <a:solidFill>
                  <a:srgbClr val="546C7A"/>
                </a:solidFill>
                <a:latin typeface="Calibri"/>
              </a:rPr>
              <a:t>React + Tailwind frontend, Python </a:t>
            </a:r>
            <a:r>
              <a:rPr lang="en-US" sz="1050" b="0" i="1" strike="noStrike" spc="-1" dirty="0" err="1">
                <a:solidFill>
                  <a:srgbClr val="546C7A"/>
                </a:solidFill>
                <a:latin typeface="Calibri"/>
              </a:rPr>
              <a:t>FastAPI</a:t>
            </a:r>
            <a:r>
              <a:rPr lang="en-US" sz="1050" b="0" i="1" strike="noStrike" spc="-1" dirty="0">
                <a:solidFill>
                  <a:srgbClr val="546C7A"/>
                </a:solidFill>
                <a:latin typeface="Calibri"/>
              </a:rPr>
              <a:t> backend, MongoDB; Claude API for plain-language alert generation; live open data feeds (NASA POWER/GPM/SMAP/SRTM, USGS, Copernicus </a:t>
            </a:r>
            <a:r>
              <a:rPr lang="en-US" sz="1050" b="0" i="1" strike="noStrike" spc="-1" dirty="0" err="1">
                <a:solidFill>
                  <a:srgbClr val="546C7A"/>
                </a:solidFill>
                <a:latin typeface="Calibri"/>
              </a:rPr>
              <a:t>GloFAS</a:t>
            </a:r>
            <a:r>
              <a:rPr lang="en-US" sz="1050" b="0" i="1" strike="noStrike" spc="-1" dirty="0">
                <a:solidFill>
                  <a:srgbClr val="546C7A"/>
                </a:solidFill>
                <a:latin typeface="Calibri"/>
              </a:rPr>
              <a:t>); Africa's Talking SMS gateway; a registered volunteer network with skill and vehicle tags.</a:t>
            </a:r>
            <a:endParaRPr lang="en-US" sz="105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Rectangle 46"/>
          <p:cNvSpPr/>
          <p:nvPr/>
        </p:nvSpPr>
        <p:spPr>
          <a:xfrm>
            <a:off x="2597040" y="4425840"/>
            <a:ext cx="1846800" cy="6840"/>
          </a:xfrm>
          <a:prstGeom prst="rect">
            <a:avLst/>
          </a:prstGeom>
          <a:solidFill>
            <a:srgbClr val="C3D3D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7800" rIns="90000" bIns="-378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2" name="Rectangle 47"/>
          <p:cNvSpPr/>
          <p:nvPr/>
        </p:nvSpPr>
        <p:spPr>
          <a:xfrm>
            <a:off x="2597040" y="4636080"/>
            <a:ext cx="1846800" cy="6840"/>
          </a:xfrm>
          <a:prstGeom prst="rect">
            <a:avLst/>
          </a:prstGeom>
          <a:solidFill>
            <a:srgbClr val="C3D3D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7800" rIns="90000" bIns="-378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3" name="Rectangle 48"/>
          <p:cNvSpPr/>
          <p:nvPr/>
        </p:nvSpPr>
        <p:spPr>
          <a:xfrm>
            <a:off x="2597040" y="4846320"/>
            <a:ext cx="1846800" cy="6840"/>
          </a:xfrm>
          <a:prstGeom prst="rect">
            <a:avLst/>
          </a:prstGeom>
          <a:solidFill>
            <a:srgbClr val="C3D3D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7800" rIns="90000" bIns="-378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4" name="Rectangle 49"/>
          <p:cNvSpPr/>
          <p:nvPr/>
        </p:nvSpPr>
        <p:spPr>
          <a:xfrm>
            <a:off x="2597040" y="5056560"/>
            <a:ext cx="1846800" cy="6840"/>
          </a:xfrm>
          <a:prstGeom prst="rect">
            <a:avLst/>
          </a:prstGeom>
          <a:solidFill>
            <a:srgbClr val="C3D3D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7800" rIns="90000" bIns="-378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5" name="Rectangle 50"/>
          <p:cNvSpPr/>
          <p:nvPr/>
        </p:nvSpPr>
        <p:spPr>
          <a:xfrm>
            <a:off x="2597040" y="5266800"/>
            <a:ext cx="1846800" cy="6840"/>
          </a:xfrm>
          <a:prstGeom prst="rect">
            <a:avLst/>
          </a:prstGeom>
          <a:solidFill>
            <a:srgbClr val="C3D3D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7800" rIns="90000" bIns="-378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6" name="Rectangle 51"/>
          <p:cNvSpPr/>
          <p:nvPr/>
        </p:nvSpPr>
        <p:spPr>
          <a:xfrm>
            <a:off x="2597040" y="5477400"/>
            <a:ext cx="1846800" cy="6840"/>
          </a:xfrm>
          <a:prstGeom prst="rect">
            <a:avLst/>
          </a:prstGeom>
          <a:solidFill>
            <a:srgbClr val="C3D3D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7800" rIns="90000" bIns="-378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7" name="Rounded Rectangle 52"/>
          <p:cNvSpPr/>
          <p:nvPr/>
        </p:nvSpPr>
        <p:spPr>
          <a:xfrm>
            <a:off x="4709160" y="1426320"/>
            <a:ext cx="2102760" cy="4370400"/>
          </a:xfrm>
          <a:prstGeom prst="roundRect">
            <a:avLst>
              <a:gd name="adj" fmla="val 16667"/>
            </a:avLst>
          </a:prstGeom>
          <a:solidFill>
            <a:srgbClr val="FFF6E5"/>
          </a:solidFill>
          <a:ln w="8890">
            <a:solidFill>
              <a:srgbClr val="C3D3D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8" name="Oval 53"/>
          <p:cNvSpPr/>
          <p:nvPr/>
        </p:nvSpPr>
        <p:spPr>
          <a:xfrm>
            <a:off x="4818960" y="1536120"/>
            <a:ext cx="209880" cy="209880"/>
          </a:xfrm>
          <a:prstGeom prst="ellipse">
            <a:avLst/>
          </a:prstGeom>
          <a:solidFill>
            <a:srgbClr val="F5A623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9" name="TextBox 54"/>
          <p:cNvSpPr/>
          <p:nvPr/>
        </p:nvSpPr>
        <p:spPr>
          <a:xfrm>
            <a:off x="4808880" y="1549800"/>
            <a:ext cx="230040" cy="21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800" b="1" strike="noStrike" spc="-1">
                <a:solidFill>
                  <a:srgbClr val="FFFFFF"/>
                </a:solidFill>
                <a:latin typeface="Calibri"/>
              </a:rPr>
              <a:t>4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TextBox 55"/>
          <p:cNvSpPr/>
          <p:nvPr/>
        </p:nvSpPr>
        <p:spPr>
          <a:xfrm>
            <a:off x="5371920" y="1517760"/>
            <a:ext cx="1060560" cy="42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00" b="1" strike="noStrike" spc="-1">
                <a:solidFill>
                  <a:srgbClr val="0C3A54"/>
                </a:solidFill>
                <a:latin typeface="Calibri"/>
              </a:rPr>
              <a:t>VALUE</a:t>
            </a:r>
            <a:br>
              <a:rPr sz="1100"/>
            </a:br>
            <a:r>
              <a:rPr lang="en-US" sz="1100" b="1" strike="noStrike" spc="-1">
                <a:solidFill>
                  <a:srgbClr val="0C3A54"/>
                </a:solidFill>
                <a:latin typeface="Calibri"/>
              </a:rPr>
              <a:t>PROPOSITIONS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TextBox 56"/>
          <p:cNvSpPr/>
          <p:nvPr/>
        </p:nvSpPr>
        <p:spPr>
          <a:xfrm>
            <a:off x="4845348" y="2454048"/>
            <a:ext cx="1822680" cy="258386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b="0" i="1" strike="noStrike" spc="-1" dirty="0">
                <a:solidFill>
                  <a:srgbClr val="546C7A"/>
                </a:solidFill>
                <a:latin typeface="Calibri"/>
              </a:rPr>
              <a:t>Turns a risk score into one feasible action per person, not a generic warning; finds an alternative or a volunteer when it isn't feasible.</a:t>
            </a:r>
            <a:endParaRPr lang="en-US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Rectangle 58"/>
          <p:cNvSpPr/>
          <p:nvPr/>
        </p:nvSpPr>
        <p:spPr>
          <a:xfrm>
            <a:off x="4837320" y="2532960"/>
            <a:ext cx="1846800" cy="6840"/>
          </a:xfrm>
          <a:prstGeom prst="rect">
            <a:avLst/>
          </a:prstGeom>
          <a:solidFill>
            <a:srgbClr val="C3D3D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7800" rIns="90000" bIns="-378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4" name="Rectangle 59"/>
          <p:cNvSpPr/>
          <p:nvPr/>
        </p:nvSpPr>
        <p:spPr>
          <a:xfrm>
            <a:off x="4837320" y="2743200"/>
            <a:ext cx="1846800" cy="6840"/>
          </a:xfrm>
          <a:prstGeom prst="rect">
            <a:avLst/>
          </a:prstGeom>
          <a:solidFill>
            <a:srgbClr val="C3D3D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7800" rIns="90000" bIns="-378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5" name="Rectangle 60"/>
          <p:cNvSpPr/>
          <p:nvPr/>
        </p:nvSpPr>
        <p:spPr>
          <a:xfrm>
            <a:off x="4837320" y="2953440"/>
            <a:ext cx="1846800" cy="6840"/>
          </a:xfrm>
          <a:prstGeom prst="rect">
            <a:avLst/>
          </a:prstGeom>
          <a:solidFill>
            <a:srgbClr val="C3D3D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7800" rIns="90000" bIns="-378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6" name="Rectangle 61"/>
          <p:cNvSpPr/>
          <p:nvPr/>
        </p:nvSpPr>
        <p:spPr>
          <a:xfrm>
            <a:off x="4837320" y="3163680"/>
            <a:ext cx="1846800" cy="6840"/>
          </a:xfrm>
          <a:prstGeom prst="rect">
            <a:avLst/>
          </a:prstGeom>
          <a:solidFill>
            <a:srgbClr val="C3D3D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7800" rIns="90000" bIns="-378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7" name="Rectangle 62"/>
          <p:cNvSpPr/>
          <p:nvPr/>
        </p:nvSpPr>
        <p:spPr>
          <a:xfrm>
            <a:off x="4837320" y="3374280"/>
            <a:ext cx="1846800" cy="6840"/>
          </a:xfrm>
          <a:prstGeom prst="rect">
            <a:avLst/>
          </a:prstGeom>
          <a:solidFill>
            <a:srgbClr val="C3D3D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7800" rIns="90000" bIns="-378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8" name="Rectangle 63"/>
          <p:cNvSpPr/>
          <p:nvPr/>
        </p:nvSpPr>
        <p:spPr>
          <a:xfrm>
            <a:off x="4837320" y="3584520"/>
            <a:ext cx="1846800" cy="6840"/>
          </a:xfrm>
          <a:prstGeom prst="rect">
            <a:avLst/>
          </a:prstGeom>
          <a:solidFill>
            <a:srgbClr val="C3D3D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7800" rIns="90000" bIns="-378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9" name="Rectangle 64"/>
          <p:cNvSpPr/>
          <p:nvPr/>
        </p:nvSpPr>
        <p:spPr>
          <a:xfrm>
            <a:off x="4837320" y="3794760"/>
            <a:ext cx="1846800" cy="6840"/>
          </a:xfrm>
          <a:prstGeom prst="rect">
            <a:avLst/>
          </a:prstGeom>
          <a:solidFill>
            <a:srgbClr val="C3D3D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7800" rIns="90000" bIns="-378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0" name="Rectangle 65"/>
          <p:cNvSpPr/>
          <p:nvPr/>
        </p:nvSpPr>
        <p:spPr>
          <a:xfrm>
            <a:off x="4837320" y="4005000"/>
            <a:ext cx="1846800" cy="6840"/>
          </a:xfrm>
          <a:prstGeom prst="rect">
            <a:avLst/>
          </a:prstGeom>
          <a:solidFill>
            <a:srgbClr val="C3D3D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7800" rIns="90000" bIns="-378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1" name="Rectangle 66"/>
          <p:cNvSpPr/>
          <p:nvPr/>
        </p:nvSpPr>
        <p:spPr>
          <a:xfrm>
            <a:off x="4837320" y="4215240"/>
            <a:ext cx="1846800" cy="6840"/>
          </a:xfrm>
          <a:prstGeom prst="rect">
            <a:avLst/>
          </a:prstGeom>
          <a:solidFill>
            <a:srgbClr val="C3D3D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7800" rIns="90000" bIns="-378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2" name="Rectangle 67"/>
          <p:cNvSpPr/>
          <p:nvPr/>
        </p:nvSpPr>
        <p:spPr>
          <a:xfrm>
            <a:off x="4837320" y="4425840"/>
            <a:ext cx="1846800" cy="6840"/>
          </a:xfrm>
          <a:prstGeom prst="rect">
            <a:avLst/>
          </a:prstGeom>
          <a:solidFill>
            <a:srgbClr val="C3D3D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7800" rIns="90000" bIns="-378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3" name="Rectangle 68"/>
          <p:cNvSpPr/>
          <p:nvPr/>
        </p:nvSpPr>
        <p:spPr>
          <a:xfrm>
            <a:off x="4837320" y="4636080"/>
            <a:ext cx="1846800" cy="6840"/>
          </a:xfrm>
          <a:prstGeom prst="rect">
            <a:avLst/>
          </a:prstGeom>
          <a:solidFill>
            <a:srgbClr val="C3D3D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7800" rIns="90000" bIns="-378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4" name="Rectangle 69"/>
          <p:cNvSpPr/>
          <p:nvPr/>
        </p:nvSpPr>
        <p:spPr>
          <a:xfrm>
            <a:off x="4837320" y="4846320"/>
            <a:ext cx="1846800" cy="6840"/>
          </a:xfrm>
          <a:prstGeom prst="rect">
            <a:avLst/>
          </a:prstGeom>
          <a:solidFill>
            <a:srgbClr val="C3D3D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7800" rIns="90000" bIns="-378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5" name="Rectangle 70"/>
          <p:cNvSpPr/>
          <p:nvPr/>
        </p:nvSpPr>
        <p:spPr>
          <a:xfrm>
            <a:off x="4837320" y="5056560"/>
            <a:ext cx="1846800" cy="6840"/>
          </a:xfrm>
          <a:prstGeom prst="rect">
            <a:avLst/>
          </a:prstGeom>
          <a:solidFill>
            <a:srgbClr val="C3D3D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7800" rIns="90000" bIns="-378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6" name="Rectangle 71"/>
          <p:cNvSpPr/>
          <p:nvPr/>
        </p:nvSpPr>
        <p:spPr>
          <a:xfrm>
            <a:off x="4837320" y="5266800"/>
            <a:ext cx="1846800" cy="6840"/>
          </a:xfrm>
          <a:prstGeom prst="rect">
            <a:avLst/>
          </a:prstGeom>
          <a:solidFill>
            <a:srgbClr val="C3D3D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7800" rIns="90000" bIns="-378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7" name="Rectangle 72"/>
          <p:cNvSpPr/>
          <p:nvPr/>
        </p:nvSpPr>
        <p:spPr>
          <a:xfrm>
            <a:off x="4837320" y="5477400"/>
            <a:ext cx="1846800" cy="6840"/>
          </a:xfrm>
          <a:prstGeom prst="rect">
            <a:avLst/>
          </a:prstGeom>
          <a:solidFill>
            <a:srgbClr val="C3D3D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7800" rIns="90000" bIns="-378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8" name="Rounded Rectangle 73"/>
          <p:cNvSpPr/>
          <p:nvPr/>
        </p:nvSpPr>
        <p:spPr>
          <a:xfrm>
            <a:off x="6949440" y="1426320"/>
            <a:ext cx="2102760" cy="1965600"/>
          </a:xfrm>
          <a:prstGeom prst="roundRect">
            <a:avLst>
              <a:gd name="adj" fmla="val 16667"/>
            </a:avLst>
          </a:prstGeom>
          <a:solidFill>
            <a:srgbClr val="EBF3F7"/>
          </a:solidFill>
          <a:ln w="8890">
            <a:solidFill>
              <a:srgbClr val="C3D3D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9" name="Oval 74"/>
          <p:cNvSpPr/>
          <p:nvPr/>
        </p:nvSpPr>
        <p:spPr>
          <a:xfrm>
            <a:off x="7059240" y="1536120"/>
            <a:ext cx="209880" cy="209880"/>
          </a:xfrm>
          <a:prstGeom prst="ellipse">
            <a:avLst/>
          </a:prstGeom>
          <a:solidFill>
            <a:srgbClr val="0C3A54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0" name="TextBox 75"/>
          <p:cNvSpPr/>
          <p:nvPr/>
        </p:nvSpPr>
        <p:spPr>
          <a:xfrm>
            <a:off x="7049160" y="1549800"/>
            <a:ext cx="230040" cy="21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800" b="1" strike="noStrike" spc="-1">
                <a:solidFill>
                  <a:srgbClr val="FFFFFF"/>
                </a:solidFill>
                <a:latin typeface="Calibri"/>
              </a:rPr>
              <a:t>5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TextBox 76"/>
          <p:cNvSpPr/>
          <p:nvPr/>
        </p:nvSpPr>
        <p:spPr>
          <a:xfrm>
            <a:off x="7598520" y="1517760"/>
            <a:ext cx="1087920" cy="42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00" b="1" strike="noStrike" spc="-1">
                <a:solidFill>
                  <a:srgbClr val="0C3A54"/>
                </a:solidFill>
                <a:latin typeface="Calibri"/>
              </a:rPr>
              <a:t>CUSTOMER</a:t>
            </a:r>
            <a:br>
              <a:rPr sz="1100"/>
            </a:br>
            <a:r>
              <a:rPr lang="en-US" sz="1100" b="1" strike="noStrike" spc="-1">
                <a:solidFill>
                  <a:srgbClr val="0C3A54"/>
                </a:solidFill>
                <a:latin typeface="Calibri"/>
              </a:rPr>
              <a:t>RELATIONSHIPS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TextBox 77"/>
          <p:cNvSpPr/>
          <p:nvPr/>
        </p:nvSpPr>
        <p:spPr>
          <a:xfrm>
            <a:off x="7049160" y="1988820"/>
            <a:ext cx="1846800" cy="139892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850" b="0" i="1" strike="noStrike" spc="-1" dirty="0">
                <a:solidFill>
                  <a:srgbClr val="546C7A"/>
                </a:solidFill>
                <a:latin typeface="Calibri"/>
              </a:rPr>
              <a:t>Two-way, always-on contact: users report WATER RISING, ROAD BLOCKED, NEED HELP, NO TRANSPORT or I AM SAFE and get a re-planned response; trust built through transparent, explainable alerts and honest offline limits rather than one-way broadcasts; volunteers add a human touchpoint when digital guidance is not enough.</a:t>
            </a:r>
            <a:endParaRPr lang="en-US" sz="85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Rectangle 78"/>
          <p:cNvSpPr/>
          <p:nvPr/>
        </p:nvSpPr>
        <p:spPr>
          <a:xfrm>
            <a:off x="7077600" y="2322720"/>
            <a:ext cx="1846800" cy="6840"/>
          </a:xfrm>
          <a:prstGeom prst="rect">
            <a:avLst/>
          </a:prstGeom>
          <a:solidFill>
            <a:srgbClr val="C3D3D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7800" rIns="90000" bIns="-378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4" name="Rectangle 79"/>
          <p:cNvSpPr/>
          <p:nvPr/>
        </p:nvSpPr>
        <p:spPr>
          <a:xfrm>
            <a:off x="7077600" y="2532960"/>
            <a:ext cx="1846800" cy="6840"/>
          </a:xfrm>
          <a:prstGeom prst="rect">
            <a:avLst/>
          </a:prstGeom>
          <a:solidFill>
            <a:srgbClr val="C3D3D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7800" rIns="90000" bIns="-378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5" name="Rectangle 80"/>
          <p:cNvSpPr/>
          <p:nvPr/>
        </p:nvSpPr>
        <p:spPr>
          <a:xfrm>
            <a:off x="7077600" y="2743200"/>
            <a:ext cx="1846800" cy="6840"/>
          </a:xfrm>
          <a:prstGeom prst="rect">
            <a:avLst/>
          </a:prstGeom>
          <a:solidFill>
            <a:srgbClr val="C3D3D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7800" rIns="90000" bIns="-378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6" name="Rectangle 81"/>
          <p:cNvSpPr/>
          <p:nvPr/>
        </p:nvSpPr>
        <p:spPr>
          <a:xfrm>
            <a:off x="7077600" y="2953440"/>
            <a:ext cx="1846800" cy="6840"/>
          </a:xfrm>
          <a:prstGeom prst="rect">
            <a:avLst/>
          </a:prstGeom>
          <a:solidFill>
            <a:srgbClr val="C3D3D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7800" rIns="90000" bIns="-378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7" name="Rectangle 82"/>
          <p:cNvSpPr/>
          <p:nvPr/>
        </p:nvSpPr>
        <p:spPr>
          <a:xfrm>
            <a:off x="7077600" y="3163680"/>
            <a:ext cx="1846800" cy="6840"/>
          </a:xfrm>
          <a:prstGeom prst="rect">
            <a:avLst/>
          </a:prstGeom>
          <a:solidFill>
            <a:srgbClr val="C3D3D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7800" rIns="90000" bIns="-378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8" name="Rounded Rectangle 83"/>
          <p:cNvSpPr/>
          <p:nvPr/>
        </p:nvSpPr>
        <p:spPr>
          <a:xfrm>
            <a:off x="6949440" y="3529440"/>
            <a:ext cx="2102760" cy="2267280"/>
          </a:xfrm>
          <a:prstGeom prst="roundRect">
            <a:avLst>
              <a:gd name="adj" fmla="val 16667"/>
            </a:avLst>
          </a:prstGeom>
          <a:solidFill>
            <a:srgbClr val="EBF3F7"/>
          </a:solidFill>
          <a:ln w="8890">
            <a:solidFill>
              <a:srgbClr val="C3D3D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9" name="Oval 84"/>
          <p:cNvSpPr/>
          <p:nvPr/>
        </p:nvSpPr>
        <p:spPr>
          <a:xfrm>
            <a:off x="7059240" y="3639240"/>
            <a:ext cx="209880" cy="209880"/>
          </a:xfrm>
          <a:prstGeom prst="ellipse">
            <a:avLst/>
          </a:prstGeom>
          <a:solidFill>
            <a:srgbClr val="0C3A54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0" name="TextBox 85"/>
          <p:cNvSpPr/>
          <p:nvPr/>
        </p:nvSpPr>
        <p:spPr>
          <a:xfrm>
            <a:off x="7049160" y="3652920"/>
            <a:ext cx="230040" cy="21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800" b="1" strike="noStrike" spc="-1">
                <a:solidFill>
                  <a:srgbClr val="FFFFFF"/>
                </a:solidFill>
                <a:latin typeface="Calibri"/>
              </a:rPr>
              <a:t>6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TextBox 86"/>
          <p:cNvSpPr/>
          <p:nvPr/>
        </p:nvSpPr>
        <p:spPr>
          <a:xfrm>
            <a:off x="7739280" y="3620880"/>
            <a:ext cx="806040" cy="257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00" b="1" strike="noStrike" spc="-1">
                <a:solidFill>
                  <a:srgbClr val="0C3A54"/>
                </a:solidFill>
                <a:latin typeface="Calibri"/>
              </a:rPr>
              <a:t>CHANNELS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TextBox 87"/>
          <p:cNvSpPr/>
          <p:nvPr/>
        </p:nvSpPr>
        <p:spPr>
          <a:xfrm>
            <a:off x="7132320" y="4215240"/>
            <a:ext cx="1846800" cy="154512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050" b="0" i="1" strike="noStrike" spc="-1" dirty="0">
                <a:solidFill>
                  <a:srgbClr val="546C7A"/>
                </a:solidFill>
                <a:latin typeface="Calibri"/>
              </a:rPr>
              <a:t>Web / Progressive Web App with dashboard, reports and offline cache; WhatsApp for alerts and structured reports; SMS via Africa's Talking for low-connectivity and non-smartphone users; an admin/responder dashboard for volunteer coordination.</a:t>
            </a:r>
            <a:endParaRPr lang="en-US" sz="105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Rectangle 88"/>
          <p:cNvSpPr/>
          <p:nvPr/>
        </p:nvSpPr>
        <p:spPr>
          <a:xfrm>
            <a:off x="7077600" y="4425840"/>
            <a:ext cx="1846800" cy="6840"/>
          </a:xfrm>
          <a:prstGeom prst="rect">
            <a:avLst/>
          </a:prstGeom>
          <a:solidFill>
            <a:srgbClr val="C3D3D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7800" rIns="90000" bIns="-378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4" name="Rectangle 89"/>
          <p:cNvSpPr/>
          <p:nvPr/>
        </p:nvSpPr>
        <p:spPr>
          <a:xfrm>
            <a:off x="7077600" y="4636080"/>
            <a:ext cx="1846800" cy="6840"/>
          </a:xfrm>
          <a:prstGeom prst="rect">
            <a:avLst/>
          </a:prstGeom>
          <a:solidFill>
            <a:srgbClr val="C3D3D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7800" rIns="90000" bIns="-378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5" name="Rectangle 90"/>
          <p:cNvSpPr/>
          <p:nvPr/>
        </p:nvSpPr>
        <p:spPr>
          <a:xfrm>
            <a:off x="7077600" y="4846320"/>
            <a:ext cx="1846800" cy="6840"/>
          </a:xfrm>
          <a:prstGeom prst="rect">
            <a:avLst/>
          </a:prstGeom>
          <a:solidFill>
            <a:srgbClr val="C3D3D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7800" rIns="90000" bIns="-378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6" name="Rectangle 91"/>
          <p:cNvSpPr/>
          <p:nvPr/>
        </p:nvSpPr>
        <p:spPr>
          <a:xfrm>
            <a:off x="7077600" y="5056560"/>
            <a:ext cx="1846800" cy="6840"/>
          </a:xfrm>
          <a:prstGeom prst="rect">
            <a:avLst/>
          </a:prstGeom>
          <a:solidFill>
            <a:srgbClr val="C3D3D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7800" rIns="90000" bIns="-378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7" name="Rectangle 92"/>
          <p:cNvSpPr/>
          <p:nvPr/>
        </p:nvSpPr>
        <p:spPr>
          <a:xfrm>
            <a:off x="7077600" y="5266800"/>
            <a:ext cx="1846800" cy="6840"/>
          </a:xfrm>
          <a:prstGeom prst="rect">
            <a:avLst/>
          </a:prstGeom>
          <a:solidFill>
            <a:srgbClr val="C3D3D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7800" rIns="90000" bIns="-378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8" name="Rectangle 93"/>
          <p:cNvSpPr/>
          <p:nvPr/>
        </p:nvSpPr>
        <p:spPr>
          <a:xfrm>
            <a:off x="7077600" y="5477400"/>
            <a:ext cx="1846800" cy="6840"/>
          </a:xfrm>
          <a:prstGeom prst="rect">
            <a:avLst/>
          </a:prstGeom>
          <a:solidFill>
            <a:srgbClr val="C3D3D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7800" rIns="90000" bIns="-378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9" name="Rounded Rectangle 94"/>
          <p:cNvSpPr/>
          <p:nvPr/>
        </p:nvSpPr>
        <p:spPr>
          <a:xfrm>
            <a:off x="9162360" y="1418760"/>
            <a:ext cx="2770200" cy="4370400"/>
          </a:xfrm>
          <a:prstGeom prst="roundRect">
            <a:avLst>
              <a:gd name="adj" fmla="val 16667"/>
            </a:avLst>
          </a:prstGeom>
          <a:solidFill>
            <a:srgbClr val="EBF3F7"/>
          </a:solidFill>
          <a:ln w="8890">
            <a:solidFill>
              <a:srgbClr val="C3D3D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0" name="Oval 95"/>
          <p:cNvSpPr/>
          <p:nvPr/>
        </p:nvSpPr>
        <p:spPr>
          <a:xfrm>
            <a:off x="9299520" y="1536120"/>
            <a:ext cx="209880" cy="209880"/>
          </a:xfrm>
          <a:prstGeom prst="ellipse">
            <a:avLst/>
          </a:prstGeom>
          <a:solidFill>
            <a:srgbClr val="0C3A54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1" name="TextBox 96"/>
          <p:cNvSpPr/>
          <p:nvPr/>
        </p:nvSpPr>
        <p:spPr>
          <a:xfrm>
            <a:off x="9289440" y="1549800"/>
            <a:ext cx="230040" cy="21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800" b="1" strike="noStrike" spc="-1">
                <a:solidFill>
                  <a:srgbClr val="FFFFFF"/>
                </a:solidFill>
                <a:latin typeface="Calibri"/>
              </a:rPr>
              <a:t>7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TextBox 97"/>
          <p:cNvSpPr/>
          <p:nvPr/>
        </p:nvSpPr>
        <p:spPr>
          <a:xfrm>
            <a:off x="10296000" y="1517760"/>
            <a:ext cx="840960" cy="42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00" b="1" strike="noStrike" spc="-1">
                <a:solidFill>
                  <a:srgbClr val="0C3A54"/>
                </a:solidFill>
                <a:latin typeface="Calibri"/>
              </a:rPr>
              <a:t>CUSTOMER</a:t>
            </a:r>
            <a:br>
              <a:rPr sz="1100"/>
            </a:br>
            <a:r>
              <a:rPr lang="en-US" sz="1100" b="1" strike="noStrike" spc="-1">
                <a:solidFill>
                  <a:srgbClr val="0C3A54"/>
                </a:solidFill>
                <a:latin typeface="Calibri"/>
              </a:rPr>
              <a:t>SEGMENTS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TextBox 98"/>
          <p:cNvSpPr/>
          <p:nvPr/>
        </p:nvSpPr>
        <p:spPr>
          <a:xfrm>
            <a:off x="9475692" y="2643696"/>
            <a:ext cx="2382120" cy="289164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0" i="1" strike="noStrike" spc="-1" dirty="0">
                <a:solidFill>
                  <a:srgbClr val="546C7A"/>
                </a:solidFill>
              </a:rPr>
              <a:t>Rural and flood-prone communities across Africa with weak or no mobile data; people with mobility or accessibility needs who cannot self-evacuate; farmers and fishers whose livelihoods depend on early flood awareness; community volunteers and local responders; future disaster-management NGOs and local authorities.</a:t>
            </a:r>
            <a:endParaRPr lang="en-US" sz="1400" b="0" strike="noStrike" spc="-1" dirty="0">
              <a:solidFill>
                <a:srgbClr val="000000"/>
              </a:solidFill>
            </a:endParaRPr>
          </a:p>
        </p:txBody>
      </p:sp>
      <p:sp>
        <p:nvSpPr>
          <p:cNvPr id="164" name="Rectangle 99"/>
          <p:cNvSpPr/>
          <p:nvPr/>
        </p:nvSpPr>
        <p:spPr>
          <a:xfrm>
            <a:off x="9317880" y="2322720"/>
            <a:ext cx="2514240" cy="6840"/>
          </a:xfrm>
          <a:prstGeom prst="rect">
            <a:avLst/>
          </a:prstGeom>
          <a:solidFill>
            <a:srgbClr val="C3D3D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7800" rIns="90000" bIns="-378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5" name="Rectangle 100"/>
          <p:cNvSpPr/>
          <p:nvPr/>
        </p:nvSpPr>
        <p:spPr>
          <a:xfrm>
            <a:off x="9317880" y="2532960"/>
            <a:ext cx="2514240" cy="6840"/>
          </a:xfrm>
          <a:prstGeom prst="rect">
            <a:avLst/>
          </a:prstGeom>
          <a:solidFill>
            <a:srgbClr val="C3D3D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7800" rIns="90000" bIns="-378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6" name="Rectangle 101"/>
          <p:cNvSpPr/>
          <p:nvPr/>
        </p:nvSpPr>
        <p:spPr>
          <a:xfrm>
            <a:off x="9317880" y="2743200"/>
            <a:ext cx="2514240" cy="6840"/>
          </a:xfrm>
          <a:prstGeom prst="rect">
            <a:avLst/>
          </a:prstGeom>
          <a:solidFill>
            <a:srgbClr val="C3D3D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7800" rIns="90000" bIns="-378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7" name="Rectangle 102"/>
          <p:cNvSpPr/>
          <p:nvPr/>
        </p:nvSpPr>
        <p:spPr>
          <a:xfrm>
            <a:off x="9317880" y="2953440"/>
            <a:ext cx="2514240" cy="6840"/>
          </a:xfrm>
          <a:prstGeom prst="rect">
            <a:avLst/>
          </a:prstGeom>
          <a:solidFill>
            <a:srgbClr val="C3D3D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7800" rIns="90000" bIns="-378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8" name="Rectangle 103"/>
          <p:cNvSpPr/>
          <p:nvPr/>
        </p:nvSpPr>
        <p:spPr>
          <a:xfrm>
            <a:off x="9317880" y="3163680"/>
            <a:ext cx="2514240" cy="6840"/>
          </a:xfrm>
          <a:prstGeom prst="rect">
            <a:avLst/>
          </a:prstGeom>
          <a:solidFill>
            <a:srgbClr val="C3D3D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7800" rIns="90000" bIns="-378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9" name="Rectangle 104"/>
          <p:cNvSpPr/>
          <p:nvPr/>
        </p:nvSpPr>
        <p:spPr>
          <a:xfrm>
            <a:off x="9317880" y="3374280"/>
            <a:ext cx="2514240" cy="6840"/>
          </a:xfrm>
          <a:prstGeom prst="rect">
            <a:avLst/>
          </a:prstGeom>
          <a:solidFill>
            <a:srgbClr val="C3D3D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7800" rIns="90000" bIns="-378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0" name="Rectangle 105"/>
          <p:cNvSpPr/>
          <p:nvPr/>
        </p:nvSpPr>
        <p:spPr>
          <a:xfrm>
            <a:off x="9317880" y="3584520"/>
            <a:ext cx="2514240" cy="6840"/>
          </a:xfrm>
          <a:prstGeom prst="rect">
            <a:avLst/>
          </a:prstGeom>
          <a:solidFill>
            <a:srgbClr val="C3D3D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7800" rIns="90000" bIns="-378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1" name="Rectangle 106"/>
          <p:cNvSpPr/>
          <p:nvPr/>
        </p:nvSpPr>
        <p:spPr>
          <a:xfrm>
            <a:off x="9317880" y="3794760"/>
            <a:ext cx="2514240" cy="6840"/>
          </a:xfrm>
          <a:prstGeom prst="rect">
            <a:avLst/>
          </a:prstGeom>
          <a:solidFill>
            <a:srgbClr val="C3D3D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7800" rIns="90000" bIns="-378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2" name="Rectangle 107"/>
          <p:cNvSpPr/>
          <p:nvPr/>
        </p:nvSpPr>
        <p:spPr>
          <a:xfrm>
            <a:off x="9317880" y="4005000"/>
            <a:ext cx="2514240" cy="6840"/>
          </a:xfrm>
          <a:prstGeom prst="rect">
            <a:avLst/>
          </a:prstGeom>
          <a:solidFill>
            <a:srgbClr val="C3D3D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7800" rIns="90000" bIns="-378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3" name="Rectangle 108"/>
          <p:cNvSpPr/>
          <p:nvPr/>
        </p:nvSpPr>
        <p:spPr>
          <a:xfrm>
            <a:off x="9317880" y="4215240"/>
            <a:ext cx="2514240" cy="6840"/>
          </a:xfrm>
          <a:prstGeom prst="rect">
            <a:avLst/>
          </a:prstGeom>
          <a:solidFill>
            <a:srgbClr val="C3D3D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7800" rIns="90000" bIns="-378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4" name="Rectangle 109"/>
          <p:cNvSpPr/>
          <p:nvPr/>
        </p:nvSpPr>
        <p:spPr>
          <a:xfrm>
            <a:off x="9317880" y="4425840"/>
            <a:ext cx="2514240" cy="6840"/>
          </a:xfrm>
          <a:prstGeom prst="rect">
            <a:avLst/>
          </a:prstGeom>
          <a:solidFill>
            <a:srgbClr val="C3D3D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7800" rIns="90000" bIns="-378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5" name="Rectangle 110"/>
          <p:cNvSpPr/>
          <p:nvPr/>
        </p:nvSpPr>
        <p:spPr>
          <a:xfrm>
            <a:off x="9317880" y="4636080"/>
            <a:ext cx="2514240" cy="6840"/>
          </a:xfrm>
          <a:prstGeom prst="rect">
            <a:avLst/>
          </a:prstGeom>
          <a:solidFill>
            <a:srgbClr val="C3D3D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7800" rIns="90000" bIns="-378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6" name="Rectangle 111"/>
          <p:cNvSpPr/>
          <p:nvPr/>
        </p:nvSpPr>
        <p:spPr>
          <a:xfrm>
            <a:off x="9317880" y="4846320"/>
            <a:ext cx="2514240" cy="6840"/>
          </a:xfrm>
          <a:prstGeom prst="rect">
            <a:avLst/>
          </a:prstGeom>
          <a:solidFill>
            <a:srgbClr val="C3D3D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7800" rIns="90000" bIns="-378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7" name="Rectangle 112"/>
          <p:cNvSpPr/>
          <p:nvPr/>
        </p:nvSpPr>
        <p:spPr>
          <a:xfrm>
            <a:off x="9317880" y="5056560"/>
            <a:ext cx="2514240" cy="6840"/>
          </a:xfrm>
          <a:prstGeom prst="rect">
            <a:avLst/>
          </a:prstGeom>
          <a:solidFill>
            <a:srgbClr val="C3D3D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7800" rIns="90000" bIns="-378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8" name="Rectangle 113"/>
          <p:cNvSpPr/>
          <p:nvPr/>
        </p:nvSpPr>
        <p:spPr>
          <a:xfrm>
            <a:off x="9317880" y="5266800"/>
            <a:ext cx="2514240" cy="6840"/>
          </a:xfrm>
          <a:prstGeom prst="rect">
            <a:avLst/>
          </a:prstGeom>
          <a:solidFill>
            <a:srgbClr val="C3D3D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7800" rIns="90000" bIns="-378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9" name="Rectangle 114"/>
          <p:cNvSpPr/>
          <p:nvPr/>
        </p:nvSpPr>
        <p:spPr>
          <a:xfrm>
            <a:off x="9317880" y="5477400"/>
            <a:ext cx="2514240" cy="6840"/>
          </a:xfrm>
          <a:prstGeom prst="rect">
            <a:avLst/>
          </a:prstGeom>
          <a:solidFill>
            <a:srgbClr val="C3D3D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7800" rIns="90000" bIns="-378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0" name="Rounded Rectangle 115"/>
          <p:cNvSpPr/>
          <p:nvPr/>
        </p:nvSpPr>
        <p:spPr>
          <a:xfrm>
            <a:off x="228600" y="5843160"/>
            <a:ext cx="5623200" cy="658080"/>
          </a:xfrm>
          <a:prstGeom prst="roundRect">
            <a:avLst>
              <a:gd name="adj" fmla="val 16667"/>
            </a:avLst>
          </a:prstGeom>
          <a:solidFill>
            <a:srgbClr val="EBF3F7"/>
          </a:solidFill>
          <a:ln w="8890">
            <a:solidFill>
              <a:srgbClr val="C3D3D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1" name="Oval 116"/>
          <p:cNvSpPr/>
          <p:nvPr/>
        </p:nvSpPr>
        <p:spPr>
          <a:xfrm>
            <a:off x="338400" y="6035040"/>
            <a:ext cx="209880" cy="209880"/>
          </a:xfrm>
          <a:prstGeom prst="ellipse">
            <a:avLst/>
          </a:prstGeom>
          <a:solidFill>
            <a:srgbClr val="0C3A54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2" name="TextBox 117"/>
          <p:cNvSpPr/>
          <p:nvPr/>
        </p:nvSpPr>
        <p:spPr>
          <a:xfrm>
            <a:off x="328320" y="6048720"/>
            <a:ext cx="230040" cy="21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800" b="1" strike="noStrike" spc="-1">
                <a:solidFill>
                  <a:srgbClr val="FFFFFF"/>
                </a:solidFill>
                <a:latin typeface="Calibri"/>
              </a:rPr>
              <a:t>8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TextBox 118"/>
          <p:cNvSpPr/>
          <p:nvPr/>
        </p:nvSpPr>
        <p:spPr>
          <a:xfrm>
            <a:off x="2582280" y="5861232"/>
            <a:ext cx="1199160" cy="257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00" b="1" strike="noStrike" spc="-1" dirty="0">
                <a:solidFill>
                  <a:srgbClr val="0C3A54"/>
                </a:solidFill>
                <a:latin typeface="Calibri"/>
              </a:rPr>
              <a:t>COST STRUCTURE</a:t>
            </a:r>
            <a:endParaRPr lang="en-US" sz="11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TextBox 119"/>
          <p:cNvSpPr/>
          <p:nvPr/>
        </p:nvSpPr>
        <p:spPr>
          <a:xfrm>
            <a:off x="484776" y="6053256"/>
            <a:ext cx="5367240" cy="3986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000" b="0" i="1" strike="noStrike" spc="-1" dirty="0">
                <a:solidFill>
                  <a:srgbClr val="546C7A"/>
                </a:solidFill>
                <a:latin typeface="Calibri"/>
              </a:rPr>
              <a:t>Small team, ~2-3 week build; hosting, MongoDB and API compute; SMS costs via Africa's Talking; NASA, USGS and </a:t>
            </a:r>
            <a:r>
              <a:rPr lang="en-US" sz="1000" b="0" i="1" strike="noStrike" spc="-1" dirty="0" err="1">
                <a:solidFill>
                  <a:srgbClr val="546C7A"/>
                </a:solidFill>
                <a:latin typeface="Calibri"/>
              </a:rPr>
              <a:t>GloFAS</a:t>
            </a:r>
            <a:r>
              <a:rPr lang="en-US" sz="1000" b="0" i="1" strike="noStrike" spc="-1" dirty="0">
                <a:solidFill>
                  <a:srgbClr val="546C7A"/>
                </a:solidFill>
                <a:latin typeface="Calibri"/>
              </a:rPr>
              <a:t> data are free and open.</a:t>
            </a:r>
            <a:endParaRPr lang="en-US" sz="1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Rounded Rectangle 120"/>
          <p:cNvSpPr/>
          <p:nvPr/>
        </p:nvSpPr>
        <p:spPr>
          <a:xfrm>
            <a:off x="5989320" y="5861160"/>
            <a:ext cx="5970600" cy="658080"/>
          </a:xfrm>
          <a:prstGeom prst="roundRect">
            <a:avLst>
              <a:gd name="adj" fmla="val 16667"/>
            </a:avLst>
          </a:prstGeom>
          <a:solidFill>
            <a:srgbClr val="EBF3F7"/>
          </a:solidFill>
          <a:ln w="8890">
            <a:solidFill>
              <a:srgbClr val="C3D3D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6" name="Oval 121"/>
          <p:cNvSpPr/>
          <p:nvPr/>
        </p:nvSpPr>
        <p:spPr>
          <a:xfrm>
            <a:off x="6099120" y="6035040"/>
            <a:ext cx="209880" cy="209880"/>
          </a:xfrm>
          <a:prstGeom prst="ellipse">
            <a:avLst/>
          </a:prstGeom>
          <a:solidFill>
            <a:srgbClr val="0C3A54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7" name="TextBox 122"/>
          <p:cNvSpPr/>
          <p:nvPr/>
        </p:nvSpPr>
        <p:spPr>
          <a:xfrm>
            <a:off x="6089040" y="6048720"/>
            <a:ext cx="230040" cy="21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800" b="1" strike="noStrike" spc="-1">
                <a:solidFill>
                  <a:srgbClr val="FFFFFF"/>
                </a:solidFill>
                <a:latin typeface="Calibri"/>
              </a:rPr>
              <a:t>9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TextBox 123"/>
          <p:cNvSpPr/>
          <p:nvPr/>
        </p:nvSpPr>
        <p:spPr>
          <a:xfrm>
            <a:off x="7928280" y="5906952"/>
            <a:ext cx="2375640" cy="257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00" b="1" strike="noStrike" spc="-1" dirty="0">
                <a:solidFill>
                  <a:srgbClr val="0C3A54"/>
                </a:solidFill>
                <a:latin typeface="Calibri"/>
              </a:rPr>
              <a:t>REVENUE / SUSTAINABILITY STREAMS</a:t>
            </a:r>
            <a:endParaRPr lang="en-US" sz="11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TextBox 124"/>
          <p:cNvSpPr/>
          <p:nvPr/>
        </p:nvSpPr>
        <p:spPr>
          <a:xfrm>
            <a:off x="6318648" y="6089832"/>
            <a:ext cx="5714640" cy="41404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050" b="0" i="1" strike="noStrike" spc="-1" dirty="0">
                <a:solidFill>
                  <a:srgbClr val="546C7A"/>
                </a:solidFill>
                <a:latin typeface="Calibri"/>
              </a:rPr>
              <a:t>Government/NGO service and licensing partnerships; climate-adaptation and DRR grant funding; freemium dashboards for organizations.</a:t>
            </a:r>
            <a:endParaRPr lang="en-US" sz="105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Rectangle 125"/>
          <p:cNvSpPr/>
          <p:nvPr/>
        </p:nvSpPr>
        <p:spPr>
          <a:xfrm>
            <a:off x="0" y="6602040"/>
            <a:ext cx="12191400" cy="255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91" name="Picture 126" descr="ayab_bottom_logos.png"/>
          <p:cNvPicPr/>
          <p:nvPr/>
        </p:nvPicPr>
        <p:blipFill>
          <a:blip r:embed="rId3"/>
          <a:srcRect t="36357"/>
          <a:stretch/>
        </p:blipFill>
        <p:spPr>
          <a:xfrm>
            <a:off x="4023360" y="6519600"/>
            <a:ext cx="3657240" cy="319680"/>
          </a:xfrm>
          <a:prstGeom prst="rect">
            <a:avLst/>
          </a:prstGeom>
          <a:ln w="0">
            <a:noFill/>
          </a:ln>
        </p:spPr>
      </p:pic>
      <p:sp>
        <p:nvSpPr>
          <p:cNvPr id="192" name="TextBox 127"/>
          <p:cNvSpPr/>
          <p:nvPr/>
        </p:nvSpPr>
        <p:spPr>
          <a:xfrm>
            <a:off x="294120" y="6615720"/>
            <a:ext cx="2099880" cy="204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750" b="0" strike="noStrike" spc="-1">
                <a:solidFill>
                  <a:srgbClr val="465C69"/>
                </a:solidFill>
                <a:latin typeface="Calibri"/>
              </a:rPr>
              <a:t>AYAB-DRR -African Union  —  AI for All Hackathon</a:t>
            </a:r>
            <a:endParaRPr lang="en-US" sz="75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</TotalTime>
  <Words>428</Words>
  <Application>Microsoft Office PowerPoint</Application>
  <PresentationFormat>Widescreen</PresentationFormat>
  <Paragraphs>34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11</vt:i4>
      </vt:variant>
      <vt:variant>
        <vt:lpstr>Slide Titles</vt:lpstr>
      </vt:variant>
      <vt:variant>
        <vt:i4>1</vt:i4>
      </vt:variant>
    </vt:vector>
  </HeadingPairs>
  <TitlesOfParts>
    <vt:vector size="19" baseType="lpstr">
      <vt:lpstr>Aptos</vt:lpstr>
      <vt:lpstr>Aptos Display</vt:lpstr>
      <vt:lpstr>Arial</vt:lpstr>
      <vt:lpstr>Calibri</vt:lpstr>
      <vt:lpstr>Symbol</vt:lpstr>
      <vt:lpstr>Times New Roman</vt:lpstr>
      <vt:lpstr>Wingdings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dc:description>generated using python-pptx</dc:description>
  <cp:lastModifiedBy>Asmaa Darag</cp:lastModifiedBy>
  <cp:revision>6</cp:revision>
  <dcterms:created xsi:type="dcterms:W3CDTF">2013-01-27T09:14:16Z</dcterms:created>
  <dcterms:modified xsi:type="dcterms:W3CDTF">2026-08-14T18:59:14Z</dcterms:modified>
  <dc:language>ar-EG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1</vt:i4>
  </property>
</Properties>
</file>